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9500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ftr" idx="2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sldNum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17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8000" cy="38518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240323207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9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947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宋体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969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8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62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4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216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5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645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6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258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7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558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8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071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9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639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10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576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11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064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12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714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13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982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14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282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15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77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16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48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17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968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18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3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19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697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20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64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21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526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22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750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23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1093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24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9328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25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4372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26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450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27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5818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28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1091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29</a:t>
            </a:fld>
            <a:endParaRPr lang="zh-CN" altLang="en-US" sz="1200"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603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1200" cap="none" spc="0" baseline="0">
                <a:solidFill>
                  <a:schemeClr val="tx1"/>
                </a:solidFill>
                <a:latin typeface="Calibri Light" charset="0"/>
                <a:ea typeface="宋体" charset="0"/>
                <a:cs typeface="Lucida Sans"/>
              </a:rPr>
              <a:t>Click to edit Master title style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Calibri Light" charset="0"/>
              <a:ea typeface="宋体" charset="0"/>
              <a:cs typeface="Lucida Sans"/>
            </a:endParaRPr>
          </a:p>
        </p:txBody>
      </p:sp>
      <p:sp>
        <p:nvSpPr>
          <p:cNvPr id="19" name="文本框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Click to edit Master subtitle style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2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152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2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75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02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48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18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56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25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08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32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3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34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5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6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37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802063" cy="438211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83995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54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Calibri Light" charset="0"/>
          <a:ea typeface="宋体" charset="0"/>
          <a:cs typeface="Calibri Light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i3-7500UCPU@2.40gh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"/>
          <p:cNvSpPr>
            <a:spLocks/>
          </p:cNvSpPr>
          <p:nvPr/>
        </p:nvSpPr>
        <p:spPr>
          <a:xfrm>
            <a:off x="1754153" y="705471"/>
            <a:ext cx="8915400" cy="375925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00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Computer Science and Engineering</a:t>
            </a:r>
          </a:p>
          <a:p>
            <a:pPr algn="ctr">
              <a:spcBef>
                <a:spcPct val="20000"/>
              </a:spcBef>
            </a:pPr>
            <a:r>
              <a:rPr lang="en-US" altLang="zh-CN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SMARTPNEUMO: REAL-TIME PNEOUMONIA</a:t>
            </a:r>
          </a:p>
          <a:p>
            <a:pPr algn="ctr">
              <a:spcBef>
                <a:spcPct val="20000"/>
              </a:spcBef>
            </a:pPr>
            <a:r>
              <a:rPr lang="en-US" altLang="zh-CN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DETECTION</a:t>
            </a:r>
          </a:p>
          <a:p>
            <a:pPr algn="ctr">
              <a:spcBef>
                <a:spcPct val="20000"/>
              </a:spcBef>
            </a:pPr>
            <a:r>
              <a:rPr lang="en-US" altLang="zh-CN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USING MOBILENETV2 ON MEDICAL IMAGING</a:t>
            </a:r>
            <a:endParaRPr lang="zh-CN" altLang="en-US" sz="1500" b="1" i="0" u="none" strike="noStrike" kern="1200" cap="none" spc="0" baseline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000"/>
                  </a:srgbClr>
                </a:outerShdw>
              </a:effectLst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4" name="文本框"/>
          <p:cNvSpPr>
            <a:spLocks noGrp="1"/>
          </p:cNvSpPr>
          <p:nvPr>
            <p:ph type="subTitle" idx="1"/>
          </p:nvPr>
        </p:nvSpPr>
        <p:spPr>
          <a:xfrm>
            <a:off x="1881450" y="1968030"/>
            <a:ext cx="9143999" cy="13410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79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PRESENTED BY</a:t>
            </a:r>
          </a:p>
          <a:p>
            <a:pPr marL="0" indent="0" algn="l">
              <a:lnSpc>
                <a:spcPct val="79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		</a:t>
            </a:r>
            <a:r>
              <a:rPr lang="en-US" altLang="zh-CN" sz="1600" b="0" i="0" u="none" strike="noStrike" kern="1200" cap="none" spc="0" baseline="0" dirty="0" err="1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Appini</a:t>
            </a:r>
            <a:r>
              <a:rPr lang="en-US" altLang="zh-CN" sz="1600" b="0" i="0" u="none" strike="noStrike" kern="1200" cap="none" spc="0" baseline="0" dirty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 Manikanta</a:t>
            </a:r>
            <a:r>
              <a:rPr lang="en-US" altLang="zh-CN" sz="16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		   	(23475A0515)</a:t>
            </a:r>
          </a:p>
          <a:p>
            <a:pPr marL="0" indent="0" algn="l">
              <a:lnSpc>
                <a:spcPct val="79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		</a:t>
            </a:r>
            <a:r>
              <a:rPr lang="en-US" altLang="zh-CN" sz="1600" b="0" i="0" u="none" strike="noStrike" kern="1200" cap="none" spc="0" baseline="0" dirty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Chakka Bharadwaj</a:t>
            </a:r>
            <a:r>
              <a:rPr lang="en-US" altLang="zh-CN" sz="16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		   	(22471A05L6)</a:t>
            </a:r>
          </a:p>
          <a:p>
            <a:pPr marL="0" indent="0" algn="l">
              <a:lnSpc>
                <a:spcPct val="79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		</a:t>
            </a:r>
            <a:r>
              <a:rPr lang="en-US" altLang="zh-CN" sz="1600" b="0" i="0" u="none" strike="noStrike" kern="1200" cap="none" spc="0" baseline="0" dirty="0" err="1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Chirakala</a:t>
            </a:r>
            <a:r>
              <a:rPr lang="en-US" altLang="zh-CN" sz="1600" b="0" i="0" u="none" strike="noStrike" kern="1200" cap="none" spc="0" baseline="0" dirty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 Gopi Krishna</a:t>
            </a:r>
            <a:r>
              <a:rPr lang="en-US" altLang="zh-CN" sz="16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	   	(23475A0523)</a:t>
            </a:r>
            <a:endParaRPr lang="zh-CN" altLang="en-US" sz="16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>
            <a:off x="2782854" y="3571458"/>
            <a:ext cx="6858000" cy="228842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66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 the Guidance of,</a:t>
            </a:r>
            <a:endParaRPr lang="en-US" altLang="zh-CN" sz="1800" b="1" i="0" u="none" strike="noStrike" kern="1200" cap="none" spc="0" baseline="0">
              <a:solidFill>
                <a:srgbClr val="0066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endParaRPr lang="en-US" altLang="zh-CN" sz="900" b="1" i="0" u="none" strike="noStrike" kern="1200" cap="none" spc="0" baseline="0">
              <a:solidFill>
                <a:schemeClr val="bg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Karuna Kumar V</a:t>
            </a:r>
            <a:r>
              <a:rPr lang="en-US" altLang="zh-CN" sz="1600" b="1" i="0" u="none" strike="noStrike" kern="1200" cap="none" spc="0" baseline="-2500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Asst.Professor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Computer Science and Engineering,</a:t>
            </a:r>
          </a:p>
          <a:p>
            <a:pPr marL="0" indent="0" algn="ctr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Narasaraopeta Engineering College (Autonomous),</a:t>
            </a:r>
          </a:p>
          <a:p>
            <a:pPr marL="0" indent="0" algn="ctr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Narasaraopet- 522601.</a:t>
            </a:r>
            <a:endParaRPr lang="zh-CN" altLang="en-US" sz="16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26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90674"/>
            <a:ext cx="3762900" cy="5790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7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8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Batch No. DB14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2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795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"/>
          <p:cNvSpPr>
            <a:spLocks noGrp="1"/>
          </p:cNvSpPr>
          <p:nvPr>
            <p:ph type="title"/>
          </p:nvPr>
        </p:nvSpPr>
        <p:spPr>
          <a:xfrm>
            <a:off x="1180618" y="365124"/>
            <a:ext cx="10173183" cy="11280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OUTLINE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0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 Batch No.DB14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1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2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2" name="文本框"/>
          <p:cNvSpPr>
            <a:spLocks noGrp="1"/>
          </p:cNvSpPr>
          <p:nvPr>
            <p:ph type="body" idx="1"/>
          </p:nvPr>
        </p:nvSpPr>
        <p:spPr>
          <a:xfrm>
            <a:off x="1180618" y="1709229"/>
            <a:ext cx="3908425" cy="42252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Abstract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Introduction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Literature Survey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Research Gaps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Problem Statement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Objectives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Block Diagram / Flow Diagram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Methodology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Implementation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Results and Analysis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Conclusion &amp; Future Scope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References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Question and Answers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Acknowledgements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76737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1180618" y="365124"/>
            <a:ext cx="10173183" cy="11280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ABSTRACT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5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 Batch No. DB14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3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7" name="文本框"/>
          <p:cNvSpPr>
            <a:spLocks noGrp="1"/>
          </p:cNvSpPr>
          <p:nvPr>
            <p:ph type="body" idx="1"/>
          </p:nvPr>
        </p:nvSpPr>
        <p:spPr>
          <a:xfrm>
            <a:off x="838200" y="1801369"/>
            <a:ext cx="10365106" cy="36347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342900" indent="-3429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Early diagnosis of pneumonia is vital for preventing severe complications.</a:t>
            </a:r>
          </a:p>
          <a:p>
            <a:pPr marL="342900" indent="-3429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The project applies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MobileNetV2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, a lightweight deep CNN, to analyze chest X-ray images.</a:t>
            </a:r>
          </a:p>
          <a:p>
            <a:pPr marL="342900" indent="-3429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A dataset of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5,855 chest X-rays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 (normal and pneumonia) was used with augmentation.</a:t>
            </a:r>
          </a:p>
          <a:p>
            <a:pPr marL="342900" indent="-3429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Achieved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98% accuracy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, outperforming ImageNet, DenseNet, and VGG16.</a:t>
            </a:r>
          </a:p>
          <a:p>
            <a:pPr marL="342900" indent="-3429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Suitable for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real-time mobile and edge deployment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, improving medical accessibility.</a:t>
            </a:r>
          </a:p>
          <a:p>
            <a:pPr marL="342900" indent="-3429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Enhances diagnosis speed, accuracy, and patient outcomes.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0979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"/>
          <p:cNvSpPr>
            <a:spLocks noGrp="1"/>
          </p:cNvSpPr>
          <p:nvPr>
            <p:ph type="title"/>
          </p:nvPr>
        </p:nvSpPr>
        <p:spPr>
          <a:xfrm>
            <a:off x="1026440" y="561068"/>
            <a:ext cx="10173183" cy="11280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9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 Batch No. DB14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1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4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2" name="文本框"/>
          <p:cNvSpPr>
            <a:spLocks noGrp="1"/>
          </p:cNvSpPr>
          <p:nvPr>
            <p:ph type="body" idx="1"/>
          </p:nvPr>
        </p:nvSpPr>
        <p:spPr>
          <a:xfrm>
            <a:off x="407429" y="1746886"/>
            <a:ext cx="11450192" cy="366490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457200" indent="-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Pneumonia is a serious respiratory infection affecting millions globally.</a:t>
            </a:r>
          </a:p>
          <a:p>
            <a:pPr marL="457200" indent="-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Traditional X-ray diagnosis often leads to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misinterpretation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 and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delays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.</a:t>
            </a:r>
          </a:p>
          <a:p>
            <a:pPr marL="457200" indent="-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AI-based tools can support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faster and more accurate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 diagnosis.</a:t>
            </a:r>
          </a:p>
          <a:p>
            <a:pPr marL="457200" indent="-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MobileNetV2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 is a lightweight and efficient deep learning model ideal for medical imaging.</a:t>
            </a:r>
          </a:p>
          <a:p>
            <a:pPr marL="457200" indent="-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The project focuses on integrating deep learning to enable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real-time pneumonia detection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 from X-rays.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92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Symptoms of Pneumonia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4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Common Symptoms: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Cough (with mucus/phlegm)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Fever, chills, sweating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Shortness of breath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Chest pain (worsens with cough/breathing)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Fatigue, weakness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Loss of appetite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5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6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7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10800000" flipV="1">
            <a:off x="838198" y="4266810"/>
            <a:ext cx="10358530" cy="9486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285750" indent="-28575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9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Infants &amp; young children:</a:t>
            </a: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May have difficulty feeding, wheezing, or appear lethargic. </a:t>
            </a:r>
          </a:p>
          <a:p>
            <a:pPr marL="285750" indent="-28575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9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Older adults:</a:t>
            </a: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More likely to have confusion, low body temperature, and fatigue instead of high fever. </a:t>
            </a:r>
            <a:endParaRPr lang="zh-CN" altLang="en-US" sz="19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18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"/>
          <p:cNvSpPr>
            <a:spLocks noGrp="1"/>
          </p:cNvSpPr>
          <p:nvPr>
            <p:ph type="title"/>
          </p:nvPr>
        </p:nvSpPr>
        <p:spPr>
          <a:xfrm>
            <a:off x="838200" y="503851"/>
            <a:ext cx="10515600" cy="67180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Dimensionality Reduction</a:t>
            </a:r>
            <a:endParaRPr lang="zh-CN" altLang="en-US" sz="40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60" name="文本框"/>
          <p:cNvSpPr>
            <a:spLocks noGrp="1"/>
          </p:cNvSpPr>
          <p:nvPr>
            <p:ph type="body" idx="1"/>
          </p:nvPr>
        </p:nvSpPr>
        <p:spPr>
          <a:xfrm>
            <a:off x="838200" y="1175658"/>
            <a:ext cx="10515600" cy="500130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92505" indent="-285750" algn="l">
              <a:lnSpc>
                <a:spcPct val="90000"/>
              </a:lnSpc>
              <a:spcBef>
                <a:spcPts val="1555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To</a:t>
            </a:r>
            <a:r>
              <a:rPr lang="en-US" altLang="zh-CN" sz="1800" b="0" i="0" u="none" strike="noStrike" kern="1200" cap="none" spc="-8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reduce</a:t>
            </a:r>
            <a:r>
              <a:rPr lang="en-US" altLang="zh-CN" sz="1800" b="0" i="0" u="none" strike="noStrike" kern="1200" cap="none" spc="-8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the</a:t>
            </a:r>
            <a:r>
              <a:rPr lang="en-US" altLang="zh-CN" sz="1800" b="0" i="0" u="none" strike="noStrike" kern="1200" cap="none" spc="-2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computational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burden</a:t>
            </a:r>
            <a:r>
              <a:rPr lang="en-US" altLang="zh-CN" sz="1800" b="0" i="0" u="none" strike="noStrike" kern="1200" cap="none" spc="-3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and</a:t>
            </a:r>
            <a:r>
              <a:rPr lang="en-US" altLang="zh-CN" sz="1800" b="0" i="0" u="none" strike="noStrike" kern="1200" cap="none" spc="-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enhance</a:t>
            </a:r>
            <a:r>
              <a:rPr lang="en-US" altLang="zh-CN" sz="1800" b="0" i="0" u="none" strike="noStrike" kern="1200" cap="none" spc="-3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the</a:t>
            </a:r>
            <a:r>
              <a:rPr lang="en-US" altLang="zh-CN" sz="1800" b="0" i="0" u="none" strike="noStrike" kern="1200" cap="none" spc="-4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efficiency</a:t>
            </a:r>
            <a:r>
              <a:rPr lang="en-US" altLang="zh-CN" sz="1800" b="0" i="0" u="none" strike="noStrike" kern="1200" cap="none" spc="-6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of</a:t>
            </a:r>
            <a:r>
              <a:rPr lang="en-US" altLang="zh-CN" sz="1800" b="0" i="0" u="none" strike="noStrike" kern="1200" cap="none" spc="-6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training: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Lucida Sans"/>
            </a:endParaRPr>
          </a:p>
          <a:p>
            <a:pPr marL="342900" indent="-342900" algn="l">
              <a:lnSpc>
                <a:spcPct val="148000"/>
              </a:lnSpc>
              <a:spcBef>
                <a:spcPts val="745"/>
              </a:spcBef>
              <a:spcAft>
                <a:spcPts val="0"/>
              </a:spcAft>
              <a:buSzPts val="1200"/>
              <a:buFontTx/>
              <a:buAutoNum type="arabicPeriod"/>
              <a:tabLst>
                <a:tab pos="1025525" algn="l"/>
              </a:tabLst>
            </a:pPr>
            <a:r>
              <a:rPr lang="en-US" altLang="zh-CN" sz="1800" b="1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Feature</a:t>
            </a:r>
            <a:r>
              <a:rPr lang="en-US" altLang="zh-CN" sz="1800" b="1" i="0" u="none" strike="noStrike" kern="1200" cap="none" spc="-3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1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Selection:</a:t>
            </a:r>
            <a:r>
              <a:rPr lang="en-US" altLang="zh-CN" sz="1800" b="1" i="0" u="none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Key patterns</a:t>
            </a:r>
            <a:r>
              <a:rPr lang="en-US" altLang="zh-CN" sz="1800" b="0" i="0" u="none" strike="noStrike" kern="1200" cap="none" spc="-3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such</a:t>
            </a:r>
            <a:r>
              <a:rPr lang="en-US" altLang="zh-CN" sz="1800" b="0" i="0" u="none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as</a:t>
            </a:r>
            <a:r>
              <a:rPr lang="en-US" altLang="zh-CN" sz="1800" b="0" i="0" u="none" strike="noStrike" kern="1200" cap="none" spc="-3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edges,</a:t>
            </a:r>
            <a:r>
              <a:rPr lang="en-US" altLang="zh-CN" sz="1800" b="0" i="0" u="none" strike="noStrike" kern="1200" cap="none" spc="-3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textures, and</a:t>
            </a:r>
            <a:r>
              <a:rPr lang="en-US" altLang="zh-CN" sz="1800" b="0" i="0" u="none" strike="noStrike" kern="1200" cap="none" spc="-3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intensities</a:t>
            </a:r>
            <a:r>
              <a:rPr lang="en-US" altLang="zh-CN" sz="1800" b="0" i="0" u="none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were</a:t>
            </a:r>
            <a:r>
              <a:rPr lang="en-US" altLang="zh-CN" sz="1800" b="0" i="0" u="none" strike="noStrike" kern="1200" cap="none" spc="-3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extracted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through convolutional layers of the CNN.</a:t>
            </a:r>
          </a:p>
          <a:p>
            <a:pPr marL="342900" indent="-342900" algn="l">
              <a:lnSpc>
                <a:spcPct val="150000"/>
              </a:lnSpc>
              <a:spcBef>
                <a:spcPts val="15"/>
              </a:spcBef>
              <a:spcAft>
                <a:spcPts val="0"/>
              </a:spcAft>
              <a:buSzPts val="1200"/>
              <a:buFontTx/>
              <a:buAutoNum type="arabicPeriod"/>
              <a:tabLst>
                <a:tab pos="1025525" algn="l"/>
              </a:tabLst>
            </a:pPr>
            <a:r>
              <a:rPr lang="en-US" altLang="zh-CN" sz="1800" b="1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Dimensionality</a:t>
            </a:r>
            <a:r>
              <a:rPr lang="en-US" altLang="zh-CN" sz="1800" b="1" i="0" u="none" strike="noStrike" kern="1200" cap="none" spc="-3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1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Reduction:</a:t>
            </a:r>
            <a:r>
              <a:rPr lang="en-US" altLang="zh-CN" sz="1800" b="1" i="0" u="none" strike="noStrike" kern="1200" cap="none" spc="-3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Pooling</a:t>
            </a:r>
            <a:r>
              <a:rPr lang="en-US" altLang="zh-CN" sz="1800" b="0" i="0" u="none" strike="noStrike" kern="1200" cap="none" spc="-4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layers</a:t>
            </a:r>
            <a:r>
              <a:rPr lang="en-US" altLang="zh-CN" sz="1800" b="0" i="0" u="none" strike="noStrike" kern="1200" cap="none" spc="-3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further</a:t>
            </a:r>
            <a:r>
              <a:rPr lang="en-US" altLang="zh-CN" sz="1800" b="0" i="0" u="none" strike="noStrike" kern="1200" cap="none" spc="-3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reduced</a:t>
            </a:r>
            <a:r>
              <a:rPr lang="en-US" altLang="zh-CN" sz="1800" b="0" i="0" u="none" strike="noStrike" kern="1200" cap="none" spc="-3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the</a:t>
            </a:r>
            <a:r>
              <a:rPr lang="en-US" altLang="zh-CN" sz="1800" b="0" i="0" u="none" strike="noStrike" kern="1200" cap="none" spc="-4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dimensions</a:t>
            </a:r>
            <a:r>
              <a:rPr lang="en-US" altLang="zh-CN" sz="1800" b="0" i="0" u="none" strike="noStrike" kern="1200" cap="none" spc="-2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while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preserving important information.</a:t>
            </a:r>
          </a:p>
          <a:p>
            <a:pPr marL="17780" indent="344170" algn="l">
              <a:lnSpc>
                <a:spcPct val="148000"/>
              </a:lnSpc>
              <a:spcBef>
                <a:spcPts val="15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This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ensures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that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only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essential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data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is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passed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to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the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classification</a:t>
            </a:r>
            <a:r>
              <a:rPr lang="en-US" altLang="zh-CN" sz="1800" b="0" i="0" u="none" strike="noStrike" kern="1200" cap="none" spc="-6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layers,</a:t>
            </a:r>
            <a:r>
              <a:rPr lang="en-US" altLang="zh-CN" sz="1800" b="0" i="0" u="none" strike="noStrike" kern="1200" cap="none" spc="-6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speeding</a:t>
            </a:r>
            <a:r>
              <a:rPr lang="en-US" altLang="zh-CN" sz="1800" b="0" i="0" u="none" strike="noStrike" kern="1200" cap="none" spc="-6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up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the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training process without compromising accuracy.</a:t>
            </a:r>
          </a:p>
          <a:p>
            <a:pPr marL="17780" indent="0" algn="l">
              <a:lnSpc>
                <a:spcPct val="148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Lucida Sans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/>
            </a:endParaRPr>
          </a:p>
        </p:txBody>
      </p:sp>
      <p:sp>
        <p:nvSpPr>
          <p:cNvPr id="61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2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3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6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64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41984" y="4161453"/>
            <a:ext cx="7287208" cy="180688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96459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"/>
          <p:cNvSpPr>
            <a:spLocks noGrp="1"/>
          </p:cNvSpPr>
          <p:nvPr>
            <p:ph type="title"/>
          </p:nvPr>
        </p:nvSpPr>
        <p:spPr>
          <a:xfrm>
            <a:off x="1180618" y="365126"/>
            <a:ext cx="10173183" cy="40975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LITERATURE SURVEY</a:t>
            </a:r>
            <a:endParaRPr lang="zh-CN" altLang="en-US" sz="40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66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67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68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Batch No.DB14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69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7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70" name="矩形"/>
          <p:cNvSpPr>
            <a:spLocks/>
          </p:cNvSpPr>
          <p:nvPr/>
        </p:nvSpPr>
        <p:spPr>
          <a:xfrm>
            <a:off x="363893" y="927280"/>
            <a:ext cx="11142306" cy="540208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graphicFrame>
        <p:nvGraphicFramePr>
          <p:cNvPr id="71" name="Table"/>
          <p:cNvGraphicFramePr>
            <a:graphicFrameLocks noGrp="1"/>
          </p:cNvGraphicFramePr>
          <p:nvPr/>
        </p:nvGraphicFramePr>
        <p:xfrm>
          <a:off x="294970" y="809134"/>
          <a:ext cx="11533053" cy="4737618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648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7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7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218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No</a:t>
                      </a:r>
                      <a:endParaRPr lang="zh-CN" altLang="en-US" sz="16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Title</a:t>
                      </a:r>
                      <a:endParaRPr lang="zh-CN" altLang="en-US" sz="16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Author</a:t>
                      </a:r>
                      <a:endParaRPr lang="zh-CN" altLang="en-US" sz="16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DOI</a:t>
                      </a:r>
                      <a:endParaRPr lang="zh-CN" altLang="en-US" sz="16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Methodology Adapted</a:t>
                      </a:r>
                      <a:endParaRPr lang="zh-CN" altLang="en-US" sz="16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Key Findings </a:t>
                      </a:r>
                      <a:endParaRPr lang="zh-CN" altLang="en-US" sz="16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Gaps</a:t>
                      </a:r>
                      <a:endParaRPr lang="zh-CN" altLang="en-US" sz="16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575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1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Detection of Pneumonia from Chest X-ray Images Utilizing</a:t>
                      </a:r>
                    </a:p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MobileNet Model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 1.Mana Saleh Al Reshan, 2.Kanwarpartap Singh Gill 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10.3390/healthcare11111561. 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The paper employs the MobileNet model for efficient pneumonia detection from chest X-rays.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MobileNet showed 94% accuracy, robustness,efficiency in pneumonia detection.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The study lacks focus on interpretability and handling data imbalance.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575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2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A Deep Learning based model for the Detection of Pneumonia from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Chest X-Ray Images using VGG-16 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1.Shagun Sharma  2.Kalpna Guleria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10.1016/j.procs.2023.01.018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paper employs VGG-16 and neural networks for pneumonia detection from chest X-ray images.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It achieved an accuracy of 99.23%, demonstrating high performance in detecting pneumonia.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study did not address real-world clinical challenges like data imbalance or interpretability.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855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3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Deep Learning-Based Pneumonia Recognition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from Chest X-Ray Images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1. Roop Preet Kaura 2.Anshu Sharmaa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10.23940/ijpe.22.05.p8.380386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paper uses ResNet-50 and deep learning models for pneumonia detection from chest X-ray images.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It achieved high accuracy (98.5%) and improved performance compared to previous models.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2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study lacks focus on interpretability and real-world clinical challenges like data imbalance.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4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COVID‐19 pneumonia level detection using deep learning algorithm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and transfer learning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1.Abbas M. Ali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2.Kayhan Ghafoor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10.1007/s12065-022-00777-0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paper uses a CNN-based model with morphological techniques for pneumonia detection.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model achieved high accuracy (95.65%) in classifying pneumonia severity.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study does not address data imbalance or model interpretability issues.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5</a:t>
                      </a:r>
                      <a:endParaRPr lang="zh-CN" altLang="en-US" sz="1400" b="0" i="0" u="none" strike="noStrike" kern="1200" cap="none" spc="0" baseline="0">
                        <a:solidFill>
                          <a:schemeClr val="tx1"/>
                        </a:solidFill>
                        <a:latin typeface="Calibri" charset="0"/>
                        <a:ea typeface="宋体" charset="0"/>
                        <a:cs typeface="Calibri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Pneumonia Detection Technique Empowered with Transfer 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Learning Approach</a:t>
                      </a:r>
                    </a:p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Muhammad Daniyal Baig1, Hafiz Burhan Ul Haq2*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0"/>
                          <a:cs typeface="Times New Roman" pitchFamily="18" charset="0"/>
                        </a:rPr>
                        <a:t>10.56578/hf020103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study employs a transfer learning-based approach for pneumonia detection using chest X-ray images.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proposed model achieved an average accuracy of 94.54% in detecting pneumonia.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The study does not address challenges such as data imbalance and model interpretability.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Times New Roman" pitchFamily="18" charset="0"/>
                        <a:ea typeface="宋体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57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"/>
          <p:cNvSpPr>
            <a:spLocks noGrp="1"/>
          </p:cNvSpPr>
          <p:nvPr>
            <p:ph type="title"/>
          </p:nvPr>
        </p:nvSpPr>
        <p:spPr>
          <a:xfrm>
            <a:off x="1180618" y="365124"/>
            <a:ext cx="10173183" cy="11280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LITERATURE SURVEY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73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74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 Batch No. DB14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75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8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76" name="矩形"/>
          <p:cNvSpPr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77" name="矩形"/>
          <p:cNvSpPr>
            <a:spLocks/>
          </p:cNvSpPr>
          <p:nvPr/>
        </p:nvSpPr>
        <p:spPr>
          <a:xfrm>
            <a:off x="914400" y="1672521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78" name="矩形"/>
          <p:cNvSpPr>
            <a:spLocks/>
          </p:cNvSpPr>
          <p:nvPr/>
        </p:nvSpPr>
        <p:spPr>
          <a:xfrm>
            <a:off x="685800" y="1543879"/>
            <a:ext cx="11010416" cy="40728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Papers Related to Objectives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: Most papers focus on machine learning models for pneumonia detection, but my work uses Deep learning models, specifically CNNs, which provide better accuracy.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Summary of Relevant Literature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: These studies highlight various datasets and methods, but my project focuses on the Bal Napyane dataset with 5,855 images, making it more specific and practical.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Key Findings and Relation to Project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: Deep learning models like CNNs show higher accuracy compared to traditional machine learning, making them more effective for pneumonia detection in chest X-rays. 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402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"/>
          <p:cNvSpPr>
            <a:spLocks noGrp="1"/>
          </p:cNvSpPr>
          <p:nvPr>
            <p:ph type="title"/>
          </p:nvPr>
        </p:nvSpPr>
        <p:spPr>
          <a:xfrm>
            <a:off x="1238792" y="580010"/>
            <a:ext cx="10173183" cy="8796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RESEARCH GAPS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80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81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 Batch No. DB14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82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9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83" name="文本框"/>
          <p:cNvSpPr>
            <a:spLocks noGrp="1"/>
          </p:cNvSpPr>
          <p:nvPr>
            <p:ph type="body" idx="1"/>
          </p:nvPr>
        </p:nvSpPr>
        <p:spPr>
          <a:xfrm>
            <a:off x="1091380" y="3043709"/>
            <a:ext cx="10262420" cy="624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10800000" flipV="1">
            <a:off x="1180617" y="3292263"/>
            <a:ext cx="9852973" cy="624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Calibri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Calibri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>
            <a:off x="1180617" y="1755080"/>
            <a:ext cx="9952535" cy="33489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285750" indent="-28575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Existing models rely on 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traditional CNNs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 with limited feature extraction.</a:t>
            </a:r>
          </a:p>
          <a:p>
            <a:pPr marL="285750" indent="-28575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Dataset imbalance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 reduces accuracy and generalization.</a:t>
            </a:r>
          </a:p>
          <a:p>
            <a:pPr marL="285750" indent="-28575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Lack of 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model interpretability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 for clinical trust.</a:t>
            </a:r>
          </a:p>
          <a:p>
            <a:pPr marL="285750" indent="-28575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High computational cost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 limits real-time diagnosis.</a:t>
            </a:r>
          </a:p>
          <a:p>
            <a:pPr marL="285750" indent="-28575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Insufficient diverse data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 affects robustness.</a:t>
            </a:r>
          </a:p>
          <a:p>
            <a:pPr marL="285750" indent="-28575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Absence of mobile-compatible, efficient deep models.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14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"/>
          <p:cNvSpPr>
            <a:spLocks noGrp="1"/>
          </p:cNvSpPr>
          <p:nvPr>
            <p:ph type="title"/>
          </p:nvPr>
        </p:nvSpPr>
        <p:spPr>
          <a:xfrm>
            <a:off x="1009409" y="803664"/>
            <a:ext cx="10173183" cy="11280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PROBLEM STATEMENT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87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88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Batch No. DB14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89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10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90" name="文本框"/>
          <p:cNvSpPr>
            <a:spLocks noGrp="1"/>
          </p:cNvSpPr>
          <p:nvPr>
            <p:ph type="body" idx="1"/>
          </p:nvPr>
        </p:nvSpPr>
        <p:spPr>
          <a:xfrm>
            <a:off x="536154" y="2112702"/>
            <a:ext cx="11268691" cy="1996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228600" indent="-2286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Traditional diagnostic systems are slow and prone to human error.</a:t>
            </a:r>
          </a:p>
          <a:p>
            <a:pPr marL="228600" indent="-2286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There’s a need for a 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real-time, accurate, and lightweight model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 for pneumonia detection.</a:t>
            </a:r>
          </a:p>
          <a:p>
            <a:pPr marL="228600" indent="-2286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Goal: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 Develop an optimized MobileNetV2-based model for </a:t>
            </a: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reliable detection from X-rays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, even in resource-limited settings.</a:t>
            </a:r>
          </a:p>
          <a:p>
            <a:pPr marL="228600" indent="-2286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Helps medical staff in early decision-making, improving treatment outcomes.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586639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文本框"/>
          <p:cNvSpPr>
            <a:spLocks noGrp="1"/>
          </p:cNvSpPr>
          <p:nvPr>
            <p:ph type="title"/>
          </p:nvPr>
        </p:nvSpPr>
        <p:spPr>
          <a:xfrm>
            <a:off x="897263" y="896970"/>
            <a:ext cx="10173183" cy="11280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OBJECTIVES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92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93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No.2         Batch No.DB14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94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95" name="文本框"/>
          <p:cNvSpPr>
            <a:spLocks noGrp="1"/>
          </p:cNvSpPr>
          <p:nvPr>
            <p:ph type="body" idx="1"/>
          </p:nvPr>
        </p:nvSpPr>
        <p:spPr>
          <a:xfrm>
            <a:off x="818017" y="2423636"/>
            <a:ext cx="9827981" cy="20107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Design an AI-based system for pneumonia detection using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MobileNetV2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.</a:t>
            </a:r>
          </a:p>
          <a:p>
            <a:pPr marL="228600" indent="-228600" algn="l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Enhance performance through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data preprocessing and augmentation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.</a:t>
            </a:r>
          </a:p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Compare MobileNetV2 with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other CNN models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 like VGG16, DenseNet, and ImageNet.</a:t>
            </a:r>
          </a:p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Achieve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higher accuracy and lower loss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 for real-time clinical use.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547242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文本框"/>
          <p:cNvSpPr>
            <a:spLocks noGrp="1"/>
          </p:cNvSpPr>
          <p:nvPr>
            <p:ph type="title"/>
          </p:nvPr>
        </p:nvSpPr>
        <p:spPr>
          <a:xfrm>
            <a:off x="1120877" y="816077"/>
            <a:ext cx="10232923" cy="12880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BLOCK DIAGRAM OR FLOW DIAGRAM</a:t>
            </a:r>
            <a:endParaRPr lang="zh-CN" altLang="en-US" sz="40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97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98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Batch No.  DB14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99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12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00" name="矩形"/>
          <p:cNvSpPr>
            <a:spLocks/>
          </p:cNvSpPr>
          <p:nvPr/>
        </p:nvSpPr>
        <p:spPr>
          <a:xfrm>
            <a:off x="1041892" y="3380100"/>
            <a:ext cx="1627803" cy="536434"/>
          </a:xfrm>
          <a:prstGeom prst="rect">
            <a:avLst/>
          </a:prstGeom>
          <a:noFill/>
          <a:ln cap="flat" cmpd="sng">
            <a:noFill/>
            <a:prstDash val="solid"/>
            <a:round/>
          </a:ln>
        </p:spPr>
      </p:sp>
      <p:sp>
        <p:nvSpPr>
          <p:cNvPr id="101" name="矩形"/>
          <p:cNvSpPr>
            <a:spLocks/>
          </p:cNvSpPr>
          <p:nvPr/>
        </p:nvSpPr>
        <p:spPr>
          <a:xfrm>
            <a:off x="1041892" y="3380100"/>
            <a:ext cx="1627803" cy="53643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21590" tIns="21590" rIns="21590" bIns="21590" anchor="ctr" anchorCtr="0">
            <a:prstTxWarp prst="textNoShape">
              <a:avLst/>
            </a:prstTxWarp>
          </a:bodyPr>
          <a:lstStyle/>
          <a:p>
            <a:pPr marL="0" indent="0" algn="ctr" defTabSz="75565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Input Chest X-ray Images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2" name="椭圆"/>
          <p:cNvSpPr>
            <a:spLocks/>
          </p:cNvSpPr>
          <p:nvPr/>
        </p:nvSpPr>
        <p:spPr>
          <a:xfrm>
            <a:off x="1040042" y="3216950"/>
            <a:ext cx="129483" cy="12948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03" name="椭圆"/>
          <p:cNvSpPr>
            <a:spLocks/>
          </p:cNvSpPr>
          <p:nvPr/>
        </p:nvSpPr>
        <p:spPr>
          <a:xfrm>
            <a:off x="1130680" y="3035672"/>
            <a:ext cx="129484" cy="12948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04" name="椭圆"/>
          <p:cNvSpPr>
            <a:spLocks/>
          </p:cNvSpPr>
          <p:nvPr/>
        </p:nvSpPr>
        <p:spPr>
          <a:xfrm>
            <a:off x="1348214" y="3071927"/>
            <a:ext cx="203475" cy="20347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05" name="椭圆"/>
          <p:cNvSpPr>
            <a:spLocks/>
          </p:cNvSpPr>
          <p:nvPr/>
        </p:nvSpPr>
        <p:spPr>
          <a:xfrm>
            <a:off x="1529493" y="2872521"/>
            <a:ext cx="129484" cy="12948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06" name="椭圆"/>
          <p:cNvSpPr>
            <a:spLocks/>
          </p:cNvSpPr>
          <p:nvPr/>
        </p:nvSpPr>
        <p:spPr>
          <a:xfrm>
            <a:off x="1765154" y="2800010"/>
            <a:ext cx="129484" cy="12948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07" name="椭圆"/>
          <p:cNvSpPr>
            <a:spLocks/>
          </p:cNvSpPr>
          <p:nvPr/>
        </p:nvSpPr>
        <p:spPr>
          <a:xfrm>
            <a:off x="2055199" y="2926905"/>
            <a:ext cx="129484" cy="12948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08" name="椭圆"/>
          <p:cNvSpPr>
            <a:spLocks/>
          </p:cNvSpPr>
          <p:nvPr/>
        </p:nvSpPr>
        <p:spPr>
          <a:xfrm>
            <a:off x="2236478" y="3017544"/>
            <a:ext cx="203474" cy="20347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09" name="椭圆"/>
          <p:cNvSpPr>
            <a:spLocks/>
          </p:cNvSpPr>
          <p:nvPr/>
        </p:nvSpPr>
        <p:spPr>
          <a:xfrm>
            <a:off x="2490268" y="3216950"/>
            <a:ext cx="129484" cy="12948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0" name="椭圆"/>
          <p:cNvSpPr>
            <a:spLocks/>
          </p:cNvSpPr>
          <p:nvPr/>
        </p:nvSpPr>
        <p:spPr>
          <a:xfrm>
            <a:off x="2599035" y="3416355"/>
            <a:ext cx="129484" cy="12948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1" name="椭圆"/>
          <p:cNvSpPr>
            <a:spLocks/>
          </p:cNvSpPr>
          <p:nvPr/>
        </p:nvSpPr>
        <p:spPr>
          <a:xfrm>
            <a:off x="1656387" y="3035672"/>
            <a:ext cx="332960" cy="332960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2" name="椭圆"/>
          <p:cNvSpPr>
            <a:spLocks/>
          </p:cNvSpPr>
          <p:nvPr/>
        </p:nvSpPr>
        <p:spPr>
          <a:xfrm>
            <a:off x="949402" y="3724529"/>
            <a:ext cx="129484" cy="12948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3" name="椭圆"/>
          <p:cNvSpPr>
            <a:spLocks/>
          </p:cNvSpPr>
          <p:nvPr/>
        </p:nvSpPr>
        <p:spPr>
          <a:xfrm>
            <a:off x="1058170" y="3887679"/>
            <a:ext cx="203474" cy="203475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4" name="椭圆"/>
          <p:cNvSpPr>
            <a:spLocks/>
          </p:cNvSpPr>
          <p:nvPr/>
        </p:nvSpPr>
        <p:spPr>
          <a:xfrm>
            <a:off x="1330086" y="4032701"/>
            <a:ext cx="295964" cy="29596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5" name="椭圆"/>
          <p:cNvSpPr>
            <a:spLocks/>
          </p:cNvSpPr>
          <p:nvPr/>
        </p:nvSpPr>
        <p:spPr>
          <a:xfrm>
            <a:off x="1710771" y="4268364"/>
            <a:ext cx="129484" cy="12948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6" name="椭圆"/>
          <p:cNvSpPr>
            <a:spLocks/>
          </p:cNvSpPr>
          <p:nvPr/>
        </p:nvSpPr>
        <p:spPr>
          <a:xfrm>
            <a:off x="1783283" y="4032701"/>
            <a:ext cx="203475" cy="203475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7" name="椭圆"/>
          <p:cNvSpPr>
            <a:spLocks/>
          </p:cNvSpPr>
          <p:nvPr/>
        </p:nvSpPr>
        <p:spPr>
          <a:xfrm>
            <a:off x="1964561" y="4286492"/>
            <a:ext cx="129484" cy="129483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8" name="椭圆"/>
          <p:cNvSpPr>
            <a:spLocks/>
          </p:cNvSpPr>
          <p:nvPr/>
        </p:nvSpPr>
        <p:spPr>
          <a:xfrm>
            <a:off x="2127711" y="3996445"/>
            <a:ext cx="295964" cy="295964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19" name="椭圆"/>
          <p:cNvSpPr>
            <a:spLocks/>
          </p:cNvSpPr>
          <p:nvPr/>
        </p:nvSpPr>
        <p:spPr>
          <a:xfrm>
            <a:off x="2526523" y="3923935"/>
            <a:ext cx="203474" cy="203475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20" name="燕尾形"/>
          <p:cNvSpPr>
            <a:spLocks/>
          </p:cNvSpPr>
          <p:nvPr/>
        </p:nvSpPr>
        <p:spPr>
          <a:xfrm>
            <a:off x="2729999" y="3071625"/>
            <a:ext cx="597577" cy="1140843"/>
          </a:xfrm>
          <a:prstGeom prst="chevron">
            <a:avLst>
              <a:gd name="adj" fmla="val 62306"/>
            </a:avLst>
          </a:prstGeom>
          <a:solidFill>
            <a:srgbClr val="B5CAE7"/>
          </a:solidFill>
          <a:ln cap="flat" cmpd="sng">
            <a:noFill/>
            <a:prstDash val="solid"/>
            <a:round/>
          </a:ln>
        </p:spPr>
      </p:sp>
      <p:sp>
        <p:nvSpPr>
          <p:cNvPr id="121" name="矩形"/>
          <p:cNvSpPr>
            <a:spLocks/>
          </p:cNvSpPr>
          <p:nvPr/>
        </p:nvSpPr>
        <p:spPr>
          <a:xfrm>
            <a:off x="3327577" y="3072180"/>
            <a:ext cx="1629760" cy="1140832"/>
          </a:xfrm>
          <a:prstGeom prst="rect">
            <a:avLst/>
          </a:prstGeom>
          <a:noFill/>
          <a:ln cap="flat" cmpd="sng">
            <a:noFill/>
            <a:prstDash val="solid"/>
            <a:round/>
          </a:ln>
        </p:spPr>
      </p:sp>
      <p:sp>
        <p:nvSpPr>
          <p:cNvPr id="122" name="矩形"/>
          <p:cNvSpPr>
            <a:spLocks/>
          </p:cNvSpPr>
          <p:nvPr/>
        </p:nvSpPr>
        <p:spPr>
          <a:xfrm>
            <a:off x="3327577" y="3072180"/>
            <a:ext cx="1629760" cy="114083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21590" tIns="21590" rIns="21590" bIns="21590" anchor="ctr" anchorCtr="0">
            <a:prstTxWarp prst="textNoShape">
              <a:avLst/>
            </a:prstTxWarp>
          </a:bodyPr>
          <a:lstStyle/>
          <a:p>
            <a:pPr marL="0" indent="0" algn="ctr" defTabSz="75565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Preprocessing and Augmentation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23" name="燕尾形"/>
          <p:cNvSpPr>
            <a:spLocks/>
          </p:cNvSpPr>
          <p:nvPr/>
        </p:nvSpPr>
        <p:spPr>
          <a:xfrm>
            <a:off x="4957338" y="3071625"/>
            <a:ext cx="597577" cy="1140843"/>
          </a:xfrm>
          <a:prstGeom prst="chevron">
            <a:avLst>
              <a:gd name="adj" fmla="val 62306"/>
            </a:avLst>
          </a:prstGeom>
          <a:solidFill>
            <a:srgbClr val="B5CAE7"/>
          </a:solidFill>
          <a:ln cap="flat" cmpd="sng">
            <a:noFill/>
            <a:prstDash val="solid"/>
            <a:round/>
          </a:ln>
        </p:spPr>
      </p:sp>
      <p:sp>
        <p:nvSpPr>
          <p:cNvPr id="124" name="矩形"/>
          <p:cNvSpPr>
            <a:spLocks/>
          </p:cNvSpPr>
          <p:nvPr/>
        </p:nvSpPr>
        <p:spPr>
          <a:xfrm>
            <a:off x="5554917" y="3072180"/>
            <a:ext cx="1629760" cy="1140832"/>
          </a:xfrm>
          <a:prstGeom prst="rect">
            <a:avLst/>
          </a:prstGeom>
          <a:noFill/>
          <a:ln cap="flat" cmpd="sng">
            <a:noFill/>
            <a:prstDash val="solid"/>
            <a:round/>
          </a:ln>
        </p:spPr>
      </p:sp>
      <p:sp>
        <p:nvSpPr>
          <p:cNvPr id="125" name="矩形"/>
          <p:cNvSpPr>
            <a:spLocks/>
          </p:cNvSpPr>
          <p:nvPr/>
        </p:nvSpPr>
        <p:spPr>
          <a:xfrm>
            <a:off x="5554917" y="3072180"/>
            <a:ext cx="1629760" cy="114083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21590" tIns="21590" rIns="21590" bIns="21590" anchor="ctr" anchorCtr="0">
            <a:prstTxWarp prst="textNoShape">
              <a:avLst/>
            </a:prstTxWarp>
          </a:bodyPr>
          <a:lstStyle/>
          <a:p>
            <a:pPr marL="0" indent="0" algn="ctr" defTabSz="75565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MobileNetV2 Feature Extraction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26" name="燕尾形"/>
          <p:cNvSpPr>
            <a:spLocks/>
          </p:cNvSpPr>
          <p:nvPr/>
        </p:nvSpPr>
        <p:spPr>
          <a:xfrm>
            <a:off x="7184677" y="3071625"/>
            <a:ext cx="597578" cy="1140843"/>
          </a:xfrm>
          <a:prstGeom prst="chevron">
            <a:avLst>
              <a:gd name="adj" fmla="val 62306"/>
            </a:avLst>
          </a:prstGeom>
          <a:solidFill>
            <a:srgbClr val="B5CAE7"/>
          </a:solidFill>
          <a:ln cap="flat" cmpd="sng">
            <a:noFill/>
            <a:prstDash val="solid"/>
            <a:round/>
          </a:ln>
        </p:spPr>
      </p:sp>
      <p:sp>
        <p:nvSpPr>
          <p:cNvPr id="127" name="矩形"/>
          <p:cNvSpPr>
            <a:spLocks/>
          </p:cNvSpPr>
          <p:nvPr/>
        </p:nvSpPr>
        <p:spPr>
          <a:xfrm>
            <a:off x="7782255" y="3072180"/>
            <a:ext cx="1629760" cy="1140832"/>
          </a:xfrm>
          <a:prstGeom prst="rect">
            <a:avLst/>
          </a:prstGeom>
          <a:noFill/>
          <a:ln cap="flat" cmpd="sng">
            <a:noFill/>
            <a:prstDash val="solid"/>
            <a:round/>
          </a:ln>
        </p:spPr>
      </p:sp>
      <p:sp>
        <p:nvSpPr>
          <p:cNvPr id="128" name="矩形"/>
          <p:cNvSpPr>
            <a:spLocks/>
          </p:cNvSpPr>
          <p:nvPr/>
        </p:nvSpPr>
        <p:spPr>
          <a:xfrm>
            <a:off x="7782255" y="3072180"/>
            <a:ext cx="1629760" cy="114083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21590" tIns="21590" rIns="21590" bIns="21590" anchor="ctr" anchorCtr="0">
            <a:prstTxWarp prst="textNoShape">
              <a:avLst/>
            </a:prstTxWarp>
          </a:bodyPr>
          <a:lstStyle/>
          <a:p>
            <a:pPr marL="0" indent="0" algn="ctr" defTabSz="75565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Calibri" charset="0"/>
              </a:rPr>
              <a:t>Classification Layer (Normal / Pneumonia)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29" name="燕尾形"/>
          <p:cNvSpPr>
            <a:spLocks/>
          </p:cNvSpPr>
          <p:nvPr/>
        </p:nvSpPr>
        <p:spPr>
          <a:xfrm>
            <a:off x="9412016" y="3071625"/>
            <a:ext cx="597578" cy="1140843"/>
          </a:xfrm>
          <a:prstGeom prst="chevron">
            <a:avLst>
              <a:gd name="adj" fmla="val 62306"/>
            </a:avLst>
          </a:prstGeom>
          <a:solidFill>
            <a:srgbClr val="B5CAE7"/>
          </a:solidFill>
          <a:ln cap="flat" cmpd="sng">
            <a:noFill/>
            <a:prstDash val="solid"/>
            <a:round/>
          </a:ln>
        </p:spPr>
      </p:sp>
      <p:sp>
        <p:nvSpPr>
          <p:cNvPr id="130" name="椭圆"/>
          <p:cNvSpPr>
            <a:spLocks/>
          </p:cNvSpPr>
          <p:nvPr/>
        </p:nvSpPr>
        <p:spPr>
          <a:xfrm>
            <a:off x="10074785" y="2977343"/>
            <a:ext cx="1385295" cy="1385296"/>
          </a:xfrm>
          <a:prstGeom prst="ellipse">
            <a:avLst/>
          </a:prstGeom>
          <a:solidFill>
            <a:srgbClr val="5B9BD5"/>
          </a:solidFill>
          <a:ln w="12700" cap="flat" cmpd="sng">
            <a:solidFill>
              <a:srgbClr val="FFFFFF"/>
            </a:solidFill>
            <a:prstDash val="solid"/>
            <a:miter/>
          </a:ln>
        </p:spPr>
      </p:sp>
      <p:sp>
        <p:nvSpPr>
          <p:cNvPr id="131" name="矩形"/>
          <p:cNvSpPr>
            <a:spLocks/>
          </p:cNvSpPr>
          <p:nvPr/>
        </p:nvSpPr>
        <p:spPr>
          <a:xfrm>
            <a:off x="10277657" y="3180216"/>
            <a:ext cx="979552" cy="97955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>
              <a:avLst/>
            </a:prstTxWarp>
          </a:bodyPr>
          <a:lstStyle/>
          <a:p>
            <a:pPr marL="0" indent="0" algn="ctr" defTabSz="755650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FFFFF"/>
                </a:solidFill>
                <a:latin typeface="Calibri" charset="0"/>
                <a:ea typeface="宋体" charset="0"/>
                <a:cs typeface="Calibri" charset="0"/>
              </a:rPr>
              <a:t>Result Output &amp; Evaluation</a:t>
            </a:r>
            <a:endParaRPr lang="zh-CN" altLang="en-US" sz="1700" b="0" i="0" u="none" strike="noStrike" kern="1200" cap="none" spc="0" baseline="0">
              <a:solidFill>
                <a:srgbClr val="FFFFFF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342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文本框"/>
          <p:cNvSpPr>
            <a:spLocks noGrp="1"/>
          </p:cNvSpPr>
          <p:nvPr>
            <p:ph type="title"/>
          </p:nvPr>
        </p:nvSpPr>
        <p:spPr>
          <a:xfrm>
            <a:off x="464820" y="365124"/>
            <a:ext cx="1088898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System Requirements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33" name="文本框"/>
          <p:cNvSpPr>
            <a:spLocks noGrp="1"/>
          </p:cNvSpPr>
          <p:nvPr>
            <p:ph type="body" idx="1"/>
          </p:nvPr>
        </p:nvSpPr>
        <p:spPr>
          <a:xfrm>
            <a:off x="670559" y="1432559"/>
            <a:ext cx="10515600" cy="41721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0" lvl="2" indent="0" algn="r">
              <a:lnSpc>
                <a:spcPct val="90000"/>
              </a:lnSpc>
              <a:spcBef>
                <a:spcPts val="5"/>
              </a:spcBef>
              <a:spcAft>
                <a:spcPts val="0"/>
              </a:spcAft>
              <a:buNone/>
              <a:tabLst>
                <a:tab pos="879475" algn="l"/>
              </a:tabLst>
            </a:pPr>
            <a:endParaRPr lang="en-US" altLang="zh-CN" sz="1200" b="1" i="0" u="none" strike="noStrike" kern="1200" cap="none" spc="-45" baseline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Lucida Sans"/>
            </a:endParaRPr>
          </a:p>
          <a:p>
            <a:pPr marL="0" indent="0" algn="l">
              <a:lnSpc>
                <a:spcPct val="90000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1.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Hardware Requirements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Lucida Sans"/>
            </a:endParaRPr>
          </a:p>
          <a:p>
            <a: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Wingdings" pitchFamily="2" charset="2"/>
              <a:buChar char="Ø"/>
              <a:tabLst>
                <a:tab pos="860425" algn="l"/>
                <a:tab pos="2237105" algn="l"/>
              </a:tabLst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System</a:t>
            </a:r>
            <a:r>
              <a:rPr lang="en-US" altLang="zh-CN" sz="1800" b="0" i="0" u="none" strike="noStrike" kern="1200" cap="none" spc="-14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Type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altLang="zh-CN" sz="1800" b="0" i="0" u="none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:</a:t>
            </a:r>
            <a:r>
              <a:rPr lang="en-US" altLang="zh-CN" sz="1800" b="0" i="0" u="none" strike="noStrike" kern="1200" cap="none" spc="5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intel®c</a:t>
            </a:r>
            <a:r>
              <a:rPr lang="en-US" altLang="zh-CN" sz="1800" b="0" i="0" u="sng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ore™</a:t>
            </a:r>
            <a:r>
              <a:rPr lang="en-US" altLang="zh-CN" sz="1800" b="0" i="0" u="sng" strike="noStrike" kern="1200" cap="none" spc="-20" baseline="0">
                <a:solidFill>
                  <a:srgbClr val="0000FF"/>
                </a:solidFill>
                <a:latin typeface="Times New Roman" pitchFamily="18" charset="0"/>
                <a:ea typeface="Verdana" pitchFamily="34" charset="0"/>
                <a:cs typeface="Verdana" pitchFamily="34" charset="0"/>
                <a:hlinkClick r:id="rId3"/>
              </a:rPr>
              <a:t>i3-7500UCPU@2.40gh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Verdana" pitchFamily="34" charset="0"/>
              <a:cs typeface="Verdana" pitchFamily="34" charset="0"/>
            </a:endParaRPr>
          </a:p>
          <a:p>
            <a: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Wingdings" pitchFamily="2" charset="2"/>
              <a:buChar char="Ø"/>
              <a:tabLst>
                <a:tab pos="860425" algn="l"/>
                <a:tab pos="2237105" algn="l"/>
              </a:tabLst>
            </a:pP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Cache memory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	:</a:t>
            </a:r>
            <a:r>
              <a:rPr lang="en-US" altLang="zh-CN" sz="1800" b="0" i="0" u="none" strike="noStrike" kern="1200" cap="none" spc="-3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4MB(Megabyte)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Lucida Sans"/>
            </a:endParaRPr>
          </a:p>
          <a:p>
            <a: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Wingdings" pitchFamily="2" charset="2"/>
              <a:buChar char="Ø"/>
              <a:tabLst>
                <a:tab pos="860425" algn="l"/>
                <a:tab pos="2237105" algn="l"/>
              </a:tabLst>
            </a:pPr>
            <a:r>
              <a:rPr lang="en-US" altLang="zh-CN" sz="1800" b="0" i="0" u="none" strike="noStrike" kern="1200" cap="none" spc="-2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RAM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	                        :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8GB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(gigabyte)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Lucida Sans"/>
            </a:endParaRPr>
          </a:p>
          <a:p>
            <a:pPr marL="228600" indent="-22860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200"/>
              <a:buFont typeface="Wingdings" pitchFamily="2" charset="2"/>
              <a:buChar char="Ø"/>
              <a:tabLst>
                <a:tab pos="860425" algn="l"/>
                <a:tab pos="2218690" algn="l"/>
              </a:tabLst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Hard</a:t>
            </a:r>
            <a:r>
              <a:rPr lang="en-US" altLang="zh-CN" sz="1800" b="0" i="0" u="none" strike="noStrike" kern="1200" cap="none" spc="-4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Disk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	:</a:t>
            </a:r>
            <a:r>
              <a:rPr lang="en-US" altLang="zh-CN" sz="1800" b="0" i="0" u="none" strike="noStrike" kern="1200" cap="none" spc="5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-2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4GB</a:t>
            </a:r>
          </a:p>
          <a:p>
            <a:pPr marL="0" indent="0" algn="l">
              <a:lnSpc>
                <a:spcPct val="90000"/>
              </a:lnSpc>
              <a:spcBef>
                <a:spcPts val="5"/>
              </a:spcBef>
              <a:spcAft>
                <a:spcPts val="0"/>
              </a:spcAft>
              <a:buNone/>
              <a:tabLst>
                <a:tab pos="860425" algn="l"/>
                <a:tab pos="2218690" algn="l"/>
              </a:tabLst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Lucida Sans"/>
            </a:endParaRPr>
          </a:p>
          <a:p>
            <a:pPr marL="0" indent="0" algn="l">
              <a:lnSpc>
                <a:spcPct val="9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2.Software</a:t>
            </a:r>
            <a:r>
              <a:rPr lang="en-US" altLang="zh-CN" sz="1800" b="1" i="0" u="none" strike="noStrike" kern="1200" cap="none" spc="-5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 </a:t>
            </a:r>
            <a:r>
              <a:rPr lang="en-US" altLang="zh-CN" sz="1800" b="1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Requirements:</a:t>
            </a:r>
            <a:endParaRPr lang="en-US" altLang="zh-CN" sz="1800" b="1" i="0" u="none" strike="noStrike" kern="1200" cap="none" spc="-45" baseline="0">
              <a:solidFill>
                <a:schemeClr val="tx1"/>
              </a:solidFill>
              <a:latin typeface="Times New Roman" pitchFamily="18" charset="0"/>
              <a:ea typeface="Times New Roman" pitchFamily="18" charset="0"/>
              <a:cs typeface="Lucida Sans"/>
            </a:endParaRPr>
          </a:p>
          <a:p>
            <a:pPr marL="228600" indent="-228600" algn="l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SzPts val="1200"/>
              <a:buFont typeface="Wingdings" pitchFamily="2" charset="2"/>
              <a:buChar char="Ø"/>
              <a:tabLst>
                <a:tab pos="860425" algn="l"/>
                <a:tab pos="2237105" algn="l"/>
              </a:tabLst>
            </a:pPr>
            <a:r>
              <a:rPr lang="en-US" altLang="zh-CN" sz="1800" b="0" i="0" u="none" strike="noStrike" kern="1200" cap="none" spc="-2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Operating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System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	:</a:t>
            </a:r>
            <a:r>
              <a:rPr lang="en-US" altLang="zh-CN" sz="1800" b="0" i="0" u="none" strike="noStrike" kern="1200" cap="none" spc="-12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Windows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11,</a:t>
            </a:r>
            <a:r>
              <a:rPr lang="en-US" altLang="zh-CN" sz="1800" b="0" i="0" u="none" strike="noStrike" kern="1200" cap="none" spc="-4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64-bit</a:t>
            </a:r>
            <a:r>
              <a:rPr lang="en-US" altLang="zh-CN" sz="1800" b="0" i="0" u="none" strike="noStrike" kern="1200" cap="none" spc="-5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Operating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System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 </a:t>
            </a:r>
          </a:p>
          <a:p>
            <a: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Wingdings" pitchFamily="2" charset="2"/>
              <a:buChar char="Ø"/>
              <a:tabLst>
                <a:tab pos="860425" algn="l"/>
                <a:tab pos="2237105" algn="l"/>
              </a:tabLst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Coding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Language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	: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Python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Verdana" pitchFamily="34" charset="0"/>
              <a:cs typeface="Verdana" pitchFamily="34" charset="0"/>
            </a:endParaRPr>
          </a:p>
          <a:p>
            <a:pPr marL="228600" indent="-22860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Python</a:t>
            </a:r>
            <a:r>
              <a:rPr lang="en-US" altLang="zh-CN" sz="1800" b="0" i="0" u="none" strike="noStrike" kern="1200" cap="none" spc="-4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distribution    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:</a:t>
            </a:r>
            <a:r>
              <a:rPr lang="en-US" altLang="zh-CN" sz="1800" b="0" i="0" u="none" strike="noStrike" kern="1200" cap="none" spc="-6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Google</a:t>
            </a:r>
            <a:r>
              <a:rPr lang="en-US" altLang="zh-CN" sz="1800" b="0" i="0" u="none" strike="noStrike" kern="1200" cap="none" spc="-6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Colab,</a:t>
            </a:r>
            <a:r>
              <a:rPr lang="en-US" altLang="zh-CN" sz="1800" b="0" i="0" u="none" strike="noStrike" kern="1200" cap="none" spc="-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-2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Flask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Verdana" pitchFamily="34" charset="0"/>
              <a:cs typeface="Verdana" pitchFamily="34" charset="0"/>
            </a:endParaRPr>
          </a:p>
          <a:p>
            <a:pPr marL="228600" indent="-22860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Times New Roman" pitchFamily="18" charset="0"/>
                <a:cs typeface="Lucida Sans"/>
              </a:rPr>
              <a:t> 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Browser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	       :</a:t>
            </a:r>
            <a:r>
              <a:rPr lang="en-US" altLang="zh-CN" sz="1800" b="0" i="0" u="none" strike="noStrike" kern="1200" cap="none" spc="-9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Any</a:t>
            </a:r>
            <a:r>
              <a:rPr lang="en-US" altLang="zh-CN" sz="1800" b="0" i="0" u="none" strike="noStrike" kern="1200" cap="none" spc="-10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Latest</a:t>
            </a:r>
            <a:r>
              <a:rPr lang="en-US" altLang="zh-CN" sz="1800" b="0" i="0" u="none" strike="noStrike" kern="1200" cap="none" spc="-75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Browser</a:t>
            </a:r>
            <a:r>
              <a:rPr lang="en-US" altLang="zh-CN" sz="1800" b="0" i="0" u="none" strike="noStrike" kern="1200" cap="none" spc="-7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like</a:t>
            </a:r>
            <a:r>
              <a:rPr lang="en-US" altLang="zh-CN" sz="1800" b="0" i="0" u="none" strike="noStrike" kern="1200" cap="none" spc="-9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1800" b="0" i="0" u="none" strike="noStrike" kern="1200" cap="none" spc="-10" baseline="0">
                <a:solidFill>
                  <a:schemeClr val="tx1"/>
                </a:solidFill>
                <a:latin typeface="Times New Roman" pitchFamily="18" charset="0"/>
                <a:ea typeface="Verdana" pitchFamily="34" charset="0"/>
                <a:cs typeface="Verdana" pitchFamily="34" charset="0"/>
              </a:rPr>
              <a:t>Chrome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Verdana" pitchFamily="34" charset="0"/>
              <a:cs typeface="Verdana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/>
            </a:endParaRPr>
          </a:p>
        </p:txBody>
      </p:sp>
      <p:sp>
        <p:nvSpPr>
          <p:cNvPr id="134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35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36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13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946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文本框"/>
          <p:cNvSpPr>
            <a:spLocks noGrp="1"/>
          </p:cNvSpPr>
          <p:nvPr>
            <p:ph type="title"/>
          </p:nvPr>
        </p:nvSpPr>
        <p:spPr>
          <a:xfrm>
            <a:off x="1211425" y="346463"/>
            <a:ext cx="10515600" cy="71754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Data-Preprocessing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38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39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0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14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1" name="文本框"/>
          <p:cNvSpPr>
            <a:spLocks noGrp="1"/>
          </p:cNvSpPr>
          <p:nvPr>
            <p:ph type="body" idx="1"/>
          </p:nvPr>
        </p:nvSpPr>
        <p:spPr>
          <a:xfrm>
            <a:off x="662472" y="1388597"/>
            <a:ext cx="10691328" cy="3025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Dataset: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5,855 chest X-ray images (Normal: 1,980, Pneumonia: 3,875) 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Data Segregation: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80% for training, 20% for testing 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Preprocessing Steps: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- Convert images to grayscale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                     - Resize to 227×227 pixels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                     - Normalize intensities and remove noise to improve quality.</a:t>
            </a:r>
          </a:p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Proper data segregation maintains generalization, preventing overfitting</a:t>
            </a:r>
            <a:r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                                 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</p:txBody>
      </p:sp>
      <p:pic>
        <p:nvPicPr>
          <p:cNvPr id="142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60320" y="3298416"/>
            <a:ext cx="2529840" cy="268146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43" name="图片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08135" y="3192780"/>
            <a:ext cx="3017212" cy="29679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022264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</a:t>
            </a: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Why Model Training is Done?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45" name="文本框"/>
          <p:cNvSpPr>
            <a:spLocks noGrp="1"/>
          </p:cNvSpPr>
          <p:nvPr>
            <p:ph type="body" idx="1"/>
          </p:nvPr>
        </p:nvSpPr>
        <p:spPr>
          <a:xfrm>
            <a:off x="838200" y="1558212"/>
            <a:ext cx="10515600" cy="46187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Different models are trained after </a:t>
            </a:r>
            <a:r>
              <a:rPr lang="en-US" altLang="zh-CN" sz="19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data preprocessing</a:t>
            </a: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to compare their performance and determine the most effective model for pneumonia detection. Each deep learning architecture has a unique way of extracting and learning features, impacting accuracy and efficiency.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Some of the techniques are as the follows:-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sz="19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Feature Extraction Variability:</a:t>
            </a: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Different models (ResNet, VGG16, DenseNet, etc.) have unique architectures that process images differently, capturing varying levels of detail.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sz="19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Performance Comparison:</a:t>
            </a: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Training multiple models helps identify the one that offers the best accuracy, lowest loss, and optimal computational efficiency.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sz="19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Robustness Testing:</a:t>
            </a: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Evaluating multiple models ensures that the final selected model generalizes well on unseen data.</a:t>
            </a:r>
          </a:p>
          <a:p>
            <a:pPr marL="22860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r>
              <a:rPr lang="en-US" altLang="zh-CN" sz="19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Optimized Decision-Making:</a:t>
            </a:r>
            <a:r>
              <a:rPr lang="en-US" altLang="zh-CN" sz="19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By analyzing accuracy, loss rates, and training efficiency, the most suitable model can be selected for deployment.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19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/>
            </a:endParaRPr>
          </a:p>
        </p:txBody>
      </p:sp>
      <p:sp>
        <p:nvSpPr>
          <p:cNvPr id="146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7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48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32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9649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   </a:t>
            </a: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Model Training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50" name="文本框"/>
          <p:cNvSpPr>
            <a:spLocks noGrp="1"/>
          </p:cNvSpPr>
          <p:nvPr>
            <p:ph type="body" idx="1"/>
          </p:nvPr>
        </p:nvSpPr>
        <p:spPr>
          <a:xfrm>
            <a:off x="838200" y="1586203"/>
            <a:ext cx="10515600" cy="4590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Arial" pitchFamily="34" charset="0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Arial" pitchFamily="34" charset="0"/>
            </a:endParaRP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Arial" pitchFamily="34" charset="0"/>
            </a:endParaRPr>
          </a:p>
          <a:p>
            <a:pPr marL="3429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Arial" pitchFamily="34" charset="0"/>
            </a:endParaRPr>
          </a:p>
          <a:p>
            <a:pPr marL="457200" lvl="1" indent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Arial" pitchFamily="34" charset="0"/>
            </a:endParaRPr>
          </a:p>
          <a:p>
            <a:pPr marL="514350" indent="-5143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Tx/>
              <a:buAutoNum type="arabicPeriod"/>
            </a:pPr>
            <a:endParaRPr lang="en-US" altLang="zh-CN" sz="2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/>
            </a:endParaRPr>
          </a:p>
        </p:txBody>
      </p:sp>
      <p:sp>
        <p:nvSpPr>
          <p:cNvPr id="151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2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3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16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4" name="矩形"/>
          <p:cNvSpPr>
            <a:spLocks/>
          </p:cNvSpPr>
          <p:nvPr/>
        </p:nvSpPr>
        <p:spPr>
          <a:xfrm rot="10800000" flipV="1">
            <a:off x="838198" y="1556566"/>
            <a:ext cx="10181252" cy="46253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AutoNum type="arabicPeriod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Deep CNN: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Custom model designed for pneumonia detection with multiple convolutional layers.</a:t>
            </a:r>
          </a:p>
          <a:p>
            <a:pPr marL="285750" indent="-28575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Accuracy: 94.04% </a:t>
            </a:r>
          </a:p>
          <a:p>
            <a:pPr marL="285750" indent="-28575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Loss Rate: 44.04%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2. ImageNet: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Pre-trained model fine-tuned for pneumonia classification.</a:t>
            </a:r>
          </a:p>
          <a:p>
            <a:pPr marL="285750" indent="-28575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Accuracy: 89.94% </a:t>
            </a:r>
          </a:p>
          <a:p>
            <a:pPr marL="285750" indent="-28575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Loss Rate: 75.26%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3. VGG16: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Deep network with uniform convolutional layers to capture hierarchical features.</a:t>
            </a:r>
          </a:p>
          <a:p>
            <a:pPr marL="285750" indent="-28575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Accuracy: 91.99% </a:t>
            </a:r>
          </a:p>
          <a:p>
            <a:pPr marL="285750" indent="-28575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Loss Rate: 54.24%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4.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DenseNet: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Uses dense connectivity to enhance feature propagation and reduce parameters.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Accuracy: 89.73%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Loss Rate: 75.00%</a:t>
            </a:r>
          </a:p>
          <a:p>
            <a:pPr marL="285750" indent="-28575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466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</a:t>
            </a: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Model Training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56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7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8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17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59" name="文本框"/>
          <p:cNvSpPr>
            <a:spLocks noGrp="1"/>
          </p:cNvSpPr>
          <p:nvPr>
            <p:ph type="body" idx="1"/>
          </p:nvPr>
        </p:nvSpPr>
        <p:spPr>
          <a:xfrm>
            <a:off x="1101012" y="1511051"/>
            <a:ext cx="10252786" cy="35585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4.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MobileNet: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Lightweight architecture optimized for mobile and embedded applications.</a:t>
            </a:r>
          </a:p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Accuracy: 91.38% </a:t>
            </a:r>
          </a:p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Loss Rate: 52.95%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5. SqueezeNet: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Efficient model with fewer parameters and reduced computational cost.</a:t>
            </a:r>
          </a:p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Accuracy: 90.97% </a:t>
            </a:r>
          </a:p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Loss Rate: 63.56%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6.ShuffleNet: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Lightweight model using grouped convolutions for speed and efficiency.</a:t>
            </a:r>
          </a:p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Accuracy: 91.27% </a:t>
            </a:r>
          </a:p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Loss Rate: 52.91%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431289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</a:t>
            </a: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Evaluation Metrics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61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2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3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18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4" name="文本框"/>
          <p:cNvSpPr>
            <a:spLocks noGrp="1"/>
          </p:cNvSpPr>
          <p:nvPr>
            <p:ph type="body" idx="1"/>
          </p:nvPr>
        </p:nvSpPr>
        <p:spPr>
          <a:xfrm>
            <a:off x="973494" y="1763227"/>
            <a:ext cx="10245012" cy="3825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1.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Specificity: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Measures the ability to correctly identify normal cases, reducing false positives and ensuring healthy patients are not misclassified.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2.Sensitivity: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Evaluates how well the model detects pneumonia cases, minimizing the chances of missing true positive cases.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3.Precision: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Indicates how many predicted pneumonia cases are actually correct, ensuring reliability in positive classifications.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4.Accuracy: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Represents the overall correctness of the model in classifying both normal and pneumonia cases.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5.F1 Score: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Balances precision and sensitivity, providing a single metric for evaluating overall model performance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.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560557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"/>
          <p:cNvSpPr>
            <a:spLocks noGrp="1"/>
          </p:cNvSpPr>
          <p:nvPr>
            <p:ph type="title"/>
          </p:nvPr>
        </p:nvSpPr>
        <p:spPr>
          <a:xfrm>
            <a:off x="838200" y="625152"/>
            <a:ext cx="10515600" cy="84908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Evaluation Metrics and Graphs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66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7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8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19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69" name="文本框"/>
          <p:cNvSpPr>
            <a:spLocks noGrp="1"/>
          </p:cNvSpPr>
          <p:nvPr>
            <p:ph type="body" idx="1"/>
          </p:nvPr>
        </p:nvSpPr>
        <p:spPr>
          <a:xfrm>
            <a:off x="1073020" y="1721281"/>
            <a:ext cx="10067731" cy="14249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6.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FPR (False Positive Rate):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Measures how often normal cases are incorrectly classified as pneumonia, affecting model trustworthiness.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7.FNR (False Negative Rate):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Indicates how many pneumonia cases are missed, crucial for ensuring no infected cases go undetected.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170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9800" y="3393264"/>
            <a:ext cx="2920180" cy="232041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71" name="图片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85923" y="3304773"/>
            <a:ext cx="2900514" cy="240890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829510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文本框"/>
          <p:cNvSpPr>
            <a:spLocks noGrp="1"/>
          </p:cNvSpPr>
          <p:nvPr>
            <p:ph type="title"/>
          </p:nvPr>
        </p:nvSpPr>
        <p:spPr>
          <a:xfrm>
            <a:off x="1180618" y="365124"/>
            <a:ext cx="10173183" cy="11280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RESULTS &amp; ANALYSIS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73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74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Batch No.DB14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75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20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76" name="文本框"/>
          <p:cNvSpPr>
            <a:spLocks noGrp="1"/>
          </p:cNvSpPr>
          <p:nvPr>
            <p:ph type="body" idx="1"/>
          </p:nvPr>
        </p:nvSpPr>
        <p:spPr>
          <a:xfrm>
            <a:off x="658761" y="1750735"/>
            <a:ext cx="10894142" cy="1224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High Accuracy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: The model achieved 94.06% accuracy, indicating strong performance and effective generalization to unseen data.</a:t>
            </a:r>
          </a:p>
          <a:p>
            <a:pPr marL="228600" indent="-2286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Balanced Metrics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: Precision, sensitivity, and F1 score demonstrate balanced performance, reducing false positives and false negatives, and ensuring reliable detection of pneumonia</a:t>
            </a:r>
            <a:r>
              <a:rPr lang="en-US" altLang="zh-CN" sz="22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 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graphicFrame>
        <p:nvGraphicFramePr>
          <p:cNvPr id="177" name="Table"/>
          <p:cNvGraphicFramePr>
            <a:graphicFrameLocks noGrp="1"/>
          </p:cNvGraphicFramePr>
          <p:nvPr>
            <p:ph type="tbl"/>
          </p:nvPr>
        </p:nvGraphicFramePr>
        <p:xfrm>
          <a:off x="1111045" y="3160005"/>
          <a:ext cx="3864012" cy="3053892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29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055"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Trained Model Name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Accuracy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Loss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691"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Deep CNN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0.9404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0.4404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691"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ImageNet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0.8994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0.7526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691"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VGG16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0.9199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0.5424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691"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DenseNet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0.8973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0.7500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691"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MobileNet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0.9138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0.5295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691"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SqueezeNet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0.9097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0.6356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691"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ShuffleNet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0.9127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0.5291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8" name="Table"/>
          <p:cNvGraphicFramePr>
            <a:graphicFrameLocks noGrp="1"/>
          </p:cNvGraphicFramePr>
          <p:nvPr>
            <p:ph type="tbl"/>
          </p:nvPr>
        </p:nvGraphicFramePr>
        <p:xfrm>
          <a:off x="6282812" y="3160005"/>
          <a:ext cx="4237646" cy="3053892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254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654"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Metric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Training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Validation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64"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Specificity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96.16%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97.32%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64"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Sensitivity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95.23%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96.13%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64"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Precision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96.17%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96.42%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64"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Accuracy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94.34%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94.47%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64"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F1 Score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97.02%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97.31%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64"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FPR (False Positive Rate)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1.32%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0.66%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654">
                <a:tc>
                  <a:txBody>
                    <a:bodyPr/>
                    <a:lstStyle/>
                    <a:p>
                      <a:pPr marL="0" indent="120015" algn="l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FNR (False Negative Rate)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0.78%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120015" algn="ctr" eaLnBrk="1" latinLnBrk="0" hangingPunct="1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70"/>
                        </a:spcAft>
                        <a:buNone/>
                      </a:pPr>
                      <a:r>
                        <a:rPr lang="en-US" altLang="zh-CN" sz="1400" b="0" i="0" u="none" strike="noStrike" kern="100" cap="none" spc="0" baseline="0">
                          <a:solidFill>
                            <a:schemeClr val="tx1"/>
                          </a:solidFill>
                          <a:latin typeface="Calibri" charset="0"/>
                          <a:ea typeface="宋体" charset="0"/>
                          <a:cs typeface="Calibri" charset="0"/>
                        </a:rPr>
                        <a:t>3.97%</a:t>
                      </a:r>
                      <a:endParaRPr lang="zh-CN" altLang="en-US" sz="1400" b="0" i="0" u="none" strike="noStrike" kern="100" cap="none" spc="0" baseline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 marL="76200" marR="73025" marT="127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325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文本框"/>
          <p:cNvSpPr>
            <a:spLocks noGrp="1"/>
          </p:cNvSpPr>
          <p:nvPr>
            <p:ph type="title"/>
          </p:nvPr>
        </p:nvSpPr>
        <p:spPr>
          <a:xfrm>
            <a:off x="1156996" y="773209"/>
            <a:ext cx="10196803" cy="3651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   </a:t>
            </a: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Fronted Screens</a:t>
            </a:r>
            <a:br>
              <a:rPr lang="zh-CN" altLang="en-US" sz="4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</a:b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Home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80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1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2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21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3D6970-94A0-0C74-47CB-35939A218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175" y="1480002"/>
            <a:ext cx="8061649" cy="453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23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文本框"/>
          <p:cNvSpPr>
            <a:spLocks noGrp="1"/>
          </p:cNvSpPr>
          <p:nvPr>
            <p:ph type="title"/>
          </p:nvPr>
        </p:nvSpPr>
        <p:spPr>
          <a:xfrm>
            <a:off x="688911" y="604222"/>
            <a:ext cx="10515600" cy="4198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About Us</a:t>
            </a:r>
            <a:endParaRPr lang="zh-CN" altLang="en-US" sz="1800" b="1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86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7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88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22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C2B89-35BA-9E0C-3D2C-2CCE408CB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967" y="1101012"/>
            <a:ext cx="8920065" cy="501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5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文本框"/>
          <p:cNvSpPr>
            <a:spLocks noGrp="1"/>
          </p:cNvSpPr>
          <p:nvPr>
            <p:ph type="title"/>
          </p:nvPr>
        </p:nvSpPr>
        <p:spPr>
          <a:xfrm>
            <a:off x="679580" y="559839"/>
            <a:ext cx="10515600" cy="37322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Image Insertion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91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92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93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23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A27601-33D2-230B-CB15-F40E23A84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438" y="1091682"/>
            <a:ext cx="8592455" cy="48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77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97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98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24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DB51A0-7E92-3F4C-E770-96F121E1B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334" y="854625"/>
            <a:ext cx="9153331" cy="514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2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文本框"/>
          <p:cNvSpPr>
            <a:spLocks noGrp="1"/>
          </p:cNvSpPr>
          <p:nvPr>
            <p:ph type="title"/>
          </p:nvPr>
        </p:nvSpPr>
        <p:spPr>
          <a:xfrm>
            <a:off x="1222310" y="762104"/>
            <a:ext cx="10131490" cy="102636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 and FUTURE SCOPE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05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06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 Batch No.DB14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07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25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08" name="文本框"/>
          <p:cNvSpPr>
            <a:spLocks noGrp="1"/>
          </p:cNvSpPr>
          <p:nvPr>
            <p:ph type="body" idx="1"/>
          </p:nvPr>
        </p:nvSpPr>
        <p:spPr>
          <a:xfrm>
            <a:off x="1073607" y="2052955"/>
            <a:ext cx="8765537" cy="34585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MobileNetV2 efficiently detects pneumonia from X-rays with 98% accuracy.</a:t>
            </a:r>
          </a:p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Lightweight model suitable for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mobile and embedded devices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.</a:t>
            </a:r>
          </a:p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Reduces diagnosis time and assists doctors in early decision-making.</a:t>
            </a:r>
          </a:p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Future Work: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Apply to other lung diseases (COVID-19, TB).</a:t>
            </a:r>
          </a:p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Use multimodal data (CT + X-ray).</a:t>
            </a:r>
          </a:p>
          <a:p>
            <a:pPr marL="228600" indent="-22860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Lucida Sans"/>
              </a:rPr>
              <a:t>Deploy as a mobile health app.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286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文本框"/>
          <p:cNvSpPr>
            <a:spLocks noGrp="1"/>
          </p:cNvSpPr>
          <p:nvPr>
            <p:ph type="title"/>
          </p:nvPr>
        </p:nvSpPr>
        <p:spPr>
          <a:xfrm>
            <a:off x="1009409" y="640245"/>
            <a:ext cx="10173183" cy="6803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REFERENCES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10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11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Batch No.  DB14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12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26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13" name="文本框"/>
          <p:cNvSpPr>
            <a:spLocks noGrp="1"/>
          </p:cNvSpPr>
          <p:nvPr>
            <p:ph type="body" idx="1"/>
          </p:nvPr>
        </p:nvSpPr>
        <p:spPr>
          <a:xfrm>
            <a:off x="334297" y="1635344"/>
            <a:ext cx="11523405" cy="4406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P. Rajpurkar, J. Irvin, K. Zhu, B. Yang, H. Mehta, T. Duan, D. Ding, A. Bagul, C. Langlotz, K. Shpanskaya, M. P. Lungren, and A. Y. Ng, "CheXNet: Radiologist-level pneumonia detection on chest X-rays with deep learning," arXiv preprint arXiv:1711.05225, 2017.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G. Liang and L. Zheng, "A transfer learning method with deep residual network for pediatric pneumonia diagnosis," Computer Methods and Programs in Biomedicine, vol. 187, p. 104964, 2020.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M. Berrimi, A. Iparraguirre-Villanueva et al., "Enhancing pneumonia detection in chest X-rays using deep CNN models," IEEE Transactions on Medical Imaging, vol. 40, no. 8, pp. 2060–2072, 2021.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R. Gonzalez et al., "Efficient deep learning models for pneumonia detection in X-rays," IEEE Journal of Biomedical and Health Informatics, vol. 25, no. 3, pp. 764–772, 2021.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S. Ahmed and H. Ali, "Improved CNN models for pneumonia detection," Journal of Digital Imaging, vol. 36, no. 4, pp. 1135–1144, 2023.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V. Chauhan et al., "Diagnosis of pneumonia in pediatric chest radiographs using hybrid deep learning model," Medical Image Analysis, vol. 69, p. 101763, 2020.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M. Al Mamluk et al., "Evaluation of deep learning models for pneumonia diagnosis using chest X-ray images," Journal of Medical Imaging and Health Informatics, vol. 10, no. 5, pp. 1021–1027, 2020.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T. Zebin and T. Rezvi, "COVID-19 detection in chest X-ray images using a new channel boosted CNN," IEEE Access, vol. 8, pp. 179437–179448, 2020.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988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文本框"/>
          <p:cNvSpPr>
            <a:spLocks noGrp="1"/>
          </p:cNvSpPr>
          <p:nvPr>
            <p:ph type="title"/>
          </p:nvPr>
        </p:nvSpPr>
        <p:spPr>
          <a:xfrm rot="10800000" flipV="1">
            <a:off x="343678" y="570991"/>
            <a:ext cx="9916885" cy="75615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     REFERE</a:t>
            </a: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NC</a:t>
            </a: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15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12/6/2025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6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Review No.         Batch No.  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7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27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8" name="文本框"/>
          <p:cNvSpPr>
            <a:spLocks noGrp="1"/>
          </p:cNvSpPr>
          <p:nvPr>
            <p:ph type="body" idx="1"/>
          </p:nvPr>
        </p:nvSpPr>
        <p:spPr>
          <a:xfrm>
            <a:off x="739451" y="1463863"/>
            <a:ext cx="10713098" cy="43776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 startAt="9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W. Bal Naypyane, "Pneumonia detection using chest X-ray images," </a:t>
            </a:r>
            <a:r>
              <a:rPr lang="en-US" altLang="zh-CN" sz="1600" b="0" i="1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Dataset available from Kaggle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, 2021.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 startAt="9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M. Reynolds et al., "Comparative analysis of deep learning architectures for pneumonia detection," </a:t>
            </a:r>
            <a:r>
              <a:rPr lang="en-US" altLang="zh-CN" sz="1600" b="0" i="1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International Journal of Computer Vision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, vol. 128, no. 12, pp. 3142–3156, 2020.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 startAt="9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M. Malik et al., "Custom 8-layer CNN for pneumonia detection," </a:t>
            </a:r>
            <a:r>
              <a:rPr lang="en-US" altLang="zh-CN" sz="1600" b="0" i="1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Medical Physics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, vol. 47, no. 10, pp. 4657–4669, 2020.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 startAt="9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M. Rao and P. Sharma, "Robust deep learning models for lung disease diagnosis," </a:t>
            </a:r>
            <a:r>
              <a:rPr lang="en-US" altLang="zh-CN" sz="1600" b="0" i="1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Computerized Medical Imaging and Graphics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, vol. 77, p. 101672, 2019.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 startAt="9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M. Hussain et al., "Advanced CNN models for pneumonia detection in chest X-rays," </a:t>
            </a:r>
            <a:r>
              <a:rPr lang="en-US" altLang="zh-CN" sz="1600" b="0" i="1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IEEE Access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, vol. 10, pp. 26305–26317, 2022.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 startAt="9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S. Chouhan et al., "A novel framework for pneumonia detection using convolutional neural networks," </a:t>
            </a:r>
            <a:r>
              <a:rPr lang="en-US" altLang="zh-CN" sz="1600" b="0" i="1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Journal of Biomedical Informatics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, vol. 110, p. 103590, 2020.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 startAt="9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J. Irvin, P. Rajpurkar, M. Ko, Y. Yu, S. Ciurea-Ilcus, C. Chute, H. Marklund, B. Haghgoo, R. Ball, K. Shpanskaya, J. Seekins, D. A. Mong, Langlotz, B. N. Patel, M. P. Lungren, and A. Y. Ng, "CheXpert: A large chest radiograph dataset with uncertainty labels and expert comparison," </a:t>
            </a:r>
            <a:r>
              <a:rPr lang="en-US" altLang="zh-CN" sz="1600" b="0" i="1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arXiv preprint arXiv:1901.07031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, 2019.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 startAt="9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D. S. Kermany et al., "Identifying medical diagnoses and treatable diseases by image-based deep learning," </a:t>
            </a:r>
            <a:r>
              <a:rPr lang="en-US" altLang="zh-CN" sz="1600" b="0" i="1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Cell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, vol. 172, no. 5, pp. 1122–1131.e9, 2018.</a:t>
            </a:r>
          </a:p>
          <a:p>
            <a:pPr marL="342900" indent="-34290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AutoNum type="arabicPeriod" startAt="9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K. Simonyan and A. Zisserman, "Very deep convolutional networks for large-scale image recognition," </a:t>
            </a:r>
            <a:r>
              <a:rPr lang="en-US" altLang="zh-CN" sz="1600" b="0" i="1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arXiv preprint arXiv:1409.1556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, 2014.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6943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文本框"/>
          <p:cNvSpPr>
            <a:spLocks noGrp="1"/>
          </p:cNvSpPr>
          <p:nvPr>
            <p:ph type="title"/>
          </p:nvPr>
        </p:nvSpPr>
        <p:spPr>
          <a:xfrm>
            <a:off x="1009409" y="538776"/>
            <a:ext cx="10173183" cy="11280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ACKNOWLEGEMENTS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20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21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Batch No.  DB14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22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28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23" name="文本框"/>
          <p:cNvSpPr>
            <a:spLocks noGrp="1"/>
          </p:cNvSpPr>
          <p:nvPr>
            <p:ph type="body" idx="1"/>
          </p:nvPr>
        </p:nvSpPr>
        <p:spPr>
          <a:xfrm>
            <a:off x="890613" y="2589357"/>
            <a:ext cx="10675373" cy="28632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Lucida Sans"/>
            </a:endParaRP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2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Arial" pitchFamily="34" charset="0"/>
              </a:rPr>
              <a:t>  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Arial" pitchFamily="34" charset="0"/>
              </a:rPr>
              <a:t>TEAM NO  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Arial" pitchFamily="34" charset="0"/>
              </a:rPr>
              <a:t>:-    DB14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Arial" pitchFamily="34" charset="0"/>
              </a:rPr>
              <a:t>GUIDE       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Arial" pitchFamily="34" charset="0"/>
              </a:rPr>
              <a:t>:-     Karuna Kumar.V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Arial" pitchFamily="34" charset="0"/>
              </a:rPr>
              <a:t>Roll No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Arial" pitchFamily="34" charset="0"/>
              </a:rPr>
              <a:t>s     :-    23475A0515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Arial" pitchFamily="34" charset="0"/>
              </a:rPr>
              <a:t>                          22471A05L6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Arial" pitchFamily="34" charset="0"/>
              </a:rPr>
              <a:t>                          23475A0523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                                      </a:t>
            </a:r>
          </a:p>
          <a:p>
            <a:pPr marL="0" indent="0" algn="l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                                                              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THANK YOU</a:t>
            </a:r>
            <a:endParaRPr lang="zh-CN" altLang="en-US" sz="2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24" name="矩形"/>
          <p:cNvSpPr>
            <a:spLocks/>
          </p:cNvSpPr>
          <p:nvPr/>
        </p:nvSpPr>
        <p:spPr>
          <a:xfrm>
            <a:off x="626013" y="1750448"/>
            <a:ext cx="10989835" cy="12915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285750" indent="-28575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We express our gratitude to our guide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Dr. K. V. Narasimha Reddy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 for his guidance and support.</a:t>
            </a:r>
          </a:p>
          <a:p>
            <a:pPr marL="285750" indent="-28575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Thanks to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Narasaraopeta Engineering College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 for providing resources and a research-driven environment.</a:t>
            </a:r>
          </a:p>
          <a:p>
            <a:pPr marL="285750" indent="-285750" algn="l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charset="0"/>
                <a:cs typeface="Calibri" charset="0"/>
              </a:rPr>
              <a:t>Special appreciation to teammates for their collaboration and hard work.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835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文本框"/>
          <p:cNvSpPr>
            <a:spLocks noGrp="1"/>
          </p:cNvSpPr>
          <p:nvPr>
            <p:ph type="title"/>
          </p:nvPr>
        </p:nvSpPr>
        <p:spPr>
          <a:xfrm>
            <a:off x="838200" y="762930"/>
            <a:ext cx="10173183" cy="11280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QUESTIONS and ANSWERS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26" name="文本框"/>
          <p:cNvSpPr>
            <a:spLocks noGrp="1"/>
          </p:cNvSpPr>
          <p:nvPr>
            <p:ph type="body" idx="1"/>
          </p:nvPr>
        </p:nvSpPr>
        <p:spPr>
          <a:xfrm>
            <a:off x="838200" y="1890939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Open for discussion and clarifications on:</a:t>
            </a:r>
          </a:p>
          <a:p>
            <a:pPr marL="22860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Dataset preparation and augmentation</a:t>
            </a:r>
          </a:p>
          <a:p>
            <a:pPr marL="22860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MobileNetV2 architecture</a:t>
            </a:r>
          </a:p>
          <a:p>
            <a:pPr marL="22860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/>
              </a:rPr>
              <a:t>Accuracy and real-time deployment possibilities</a:t>
            </a:r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27" name="文本框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11-11-2025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28" name="文本框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Review No.         Batch No.  DB14         Department of CSE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29" name="文本框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29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7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andoutMaster1">
  <a:themeElements>
    <a:clrScheme name="handout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andout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handout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2655</TotalTime>
  <Words>2976</Words>
  <Application>Microsoft Office PowerPoint</Application>
  <PresentationFormat>Widescreen</PresentationFormat>
  <Paragraphs>431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Droid Sans</vt:lpstr>
      <vt:lpstr>Times New Roman</vt:lpstr>
      <vt:lpstr>Wingdings</vt:lpstr>
      <vt:lpstr>Office Theme</vt:lpstr>
      <vt:lpstr>PowerPoint Presentation</vt:lpstr>
      <vt:lpstr>OUTLINE</vt:lpstr>
      <vt:lpstr>ABSTRACT</vt:lpstr>
      <vt:lpstr>INTRODUCTION</vt:lpstr>
      <vt:lpstr>                  Symptoms of Pneumonia</vt:lpstr>
      <vt:lpstr>                Dimensionality Reduction</vt:lpstr>
      <vt:lpstr>LITERATURE SURVEY</vt:lpstr>
      <vt:lpstr>LITERATURE SURVEY</vt:lpstr>
      <vt:lpstr>RESEARCH GAPS</vt:lpstr>
      <vt:lpstr>PROBLEM STATEMENT</vt:lpstr>
      <vt:lpstr>OBJECTIVES</vt:lpstr>
      <vt:lpstr>BLOCK DIAGRAM OR FLOW DIAGRAM</vt:lpstr>
      <vt:lpstr>                    System Requirements</vt:lpstr>
      <vt:lpstr>                     Data-Preprocessing</vt:lpstr>
      <vt:lpstr>             Why Model Training is Done?</vt:lpstr>
      <vt:lpstr>                         Model Training</vt:lpstr>
      <vt:lpstr>                      Model Training</vt:lpstr>
      <vt:lpstr>                     Evaluation Metrics</vt:lpstr>
      <vt:lpstr>            Evaluation Metrics and Graphs</vt:lpstr>
      <vt:lpstr>RESULTS &amp; ANALYSIS</vt:lpstr>
      <vt:lpstr>                         Fronted Screens Home</vt:lpstr>
      <vt:lpstr> About Us</vt:lpstr>
      <vt:lpstr>Image Insertion</vt:lpstr>
      <vt:lpstr>PowerPoint Presentation</vt:lpstr>
      <vt:lpstr>CONCLUSION and FUTURE SCOPE</vt:lpstr>
      <vt:lpstr>REFERENCES</vt:lpstr>
      <vt:lpstr>                           REFERENCES</vt:lpstr>
      <vt:lpstr>ACKNOWLEGEMENTS</vt:lpstr>
      <vt:lpstr>QUESTIONS and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admin</dc:creator>
  <cp:lastModifiedBy>Gopi krishna</cp:lastModifiedBy>
  <cp:revision>24</cp:revision>
  <dcterms:created xsi:type="dcterms:W3CDTF">2023-12-22T11:34:02Z</dcterms:created>
  <dcterms:modified xsi:type="dcterms:W3CDTF">2025-12-06T05:46:23Z</dcterms:modified>
</cp:coreProperties>
</file>